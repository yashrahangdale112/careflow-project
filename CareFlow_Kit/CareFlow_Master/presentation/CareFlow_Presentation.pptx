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5D7A"/>
                </a:solidFill>
                <a:latin typeface="Calibri"/>
              </a:rPr>
              <a:t>CareFlow: Clinical Pathway</a:t>
            </a:r>
          </a:p>
          <a:p>
            <a:pPr algn="l"/>
            <a:r>
              <a:rPr sz="4000" b="1">
                <a:solidFill>
                  <a:srgbClr val="0B5D7A"/>
                </a:solidFill>
                <a:latin typeface="Calibri"/>
              </a:rPr>
              <a:t>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2212E"/>
                </a:solidFill>
                <a:latin typeface="Calibri"/>
              </a:rPr>
              <a:t>Process intelligence on a hospital event log — discover, diagnose, predict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12E"/>
                </a:solidFill>
                <a:latin typeface="Calibri"/>
              </a:rPr>
              <a:t>Yash Rahangdale  ·  Data Associate L1 Intern  · 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8"/>
                </a:solidFill>
                <a:latin typeface="Calibri"/>
              </a:rPr>
              <a:t>Infotact Solutions  ·  Ref. No. ITS/DA/1393  ·  10 Oct 2026 – 10 Nov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Business problem — why clinical pathways drift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Data &amp; method — event log, cleaning, process mining, SQL star schema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What the process looks like — DFG, 14 variants, bottleneck at Observation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Where the money goes — Operation Theatre = 36 % of cost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Conformance — fitness 1.0000 on the synthetic log, 0.7–0.95 expected on real data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Prediction — long stay &gt; 24 h, leakage-free model, AUC 0.998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Deliverables, dashboard demo and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The problem: pathways are designed on paper, executed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2212E"/>
                </a:solidFill>
              </a:rPr>
              <a:t>•  A hospital knows totals, not sequences — the ORDER of steps is invisible in reports.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2212E"/>
                </a:solidFill>
              </a:rPr>
              <a:t>•  Tests repeat, patients queue, some journeys escalate to ICU — nobody can see where.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2212E"/>
                </a:solidFill>
              </a:rPr>
              <a:t>•  Result: longer stays, avoidable cost, unpredictable capacity.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2212E"/>
                </a:solidFill>
              </a:rPr>
              <a:t>•  Question this project answers: what is the REAL pathway, where does time leak, and who will become a long stay?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Data: a process-mining event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A2B8"/>
                </a:solidFill>
                <a:latin typeface="Calibri"/>
              </a:rPr>
              <a:t>One row = one event.  case_id + activity + timestamp are mandatory.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case_id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patient journey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the step performed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wait_minutes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waiting before the step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when it happened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service_minutes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duration of the step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staff /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cost_inr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cost of the step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4114800"/>
            <a:ext cx="2571750" cy="1280160"/>
          </a:xfrm>
          <a:prstGeom prst="rect">
            <a:avLst/>
          </a:prstGeom>
          <a:solidFill>
            <a:srgbClr val="EEF7FA"/>
          </a:solidFill>
          <a:ln>
            <a:solidFill>
              <a:srgbClr val="CF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5D7A"/>
                </a:solidFill>
              </a:rPr>
              <a:t>1,500</a:t>
            </a:r>
          </a:p>
          <a:p>
            <a:pPr algn="ctr"/>
            <a:r>
              <a:rPr sz="1000">
                <a:solidFill>
                  <a:srgbClr val="5A6B78"/>
                </a:solidFill>
              </a:rPr>
              <a:t>patient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0430" y="4114800"/>
            <a:ext cx="2571750" cy="1280160"/>
          </a:xfrm>
          <a:prstGeom prst="rect">
            <a:avLst/>
          </a:prstGeom>
          <a:solidFill>
            <a:srgbClr val="EEF7FA"/>
          </a:solidFill>
          <a:ln>
            <a:solidFill>
              <a:srgbClr val="CF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5D7A"/>
                </a:solidFill>
              </a:rPr>
              <a:t>13,583</a:t>
            </a:r>
          </a:p>
          <a:p>
            <a:pPr algn="ctr"/>
            <a:r>
              <a:rPr sz="1000">
                <a:solidFill>
                  <a:srgbClr val="5A6B78"/>
                </a:solidFill>
              </a:rPr>
              <a:t>clean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0780" y="4114800"/>
            <a:ext cx="2571750" cy="1280160"/>
          </a:xfrm>
          <a:prstGeom prst="rect">
            <a:avLst/>
          </a:prstGeom>
          <a:solidFill>
            <a:srgbClr val="EEF7FA"/>
          </a:solidFill>
          <a:ln>
            <a:solidFill>
              <a:srgbClr val="CF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5D7A"/>
                </a:solidFill>
              </a:rPr>
              <a:t>15</a:t>
            </a:r>
          </a:p>
          <a:p>
            <a:pPr algn="ctr"/>
            <a:r>
              <a:rPr sz="1000">
                <a:solidFill>
                  <a:srgbClr val="5A6B78"/>
                </a:solidFill>
              </a:rPr>
              <a:t>activities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41130" y="4114800"/>
            <a:ext cx="2571750" cy="1280160"/>
          </a:xfrm>
          <a:prstGeom prst="rect">
            <a:avLst/>
          </a:prstGeom>
          <a:solidFill>
            <a:srgbClr val="EEF7FA"/>
          </a:solidFill>
          <a:ln>
            <a:solidFill>
              <a:srgbClr val="CF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5D7A"/>
                </a:solidFill>
              </a:rPr>
              <a:t>26</a:t>
            </a:r>
          </a:p>
          <a:p>
            <a:pPr algn="ctr"/>
            <a:r>
              <a:rPr sz="1000">
                <a:solidFill>
                  <a:srgbClr val="5A6B78"/>
                </a:solidFill>
              </a:rPr>
              <a:t>engineered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6B78"/>
                </a:solidFill>
                <a:latin typeface="Calibri"/>
              </a:rPr>
              <a:t>Synthetic but realistic log (seed 42) for the reference run; the pipeline also documents how to plug in a real public log (4TU Sepsis Cases, ~1,050 cases / 15,214 events).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Step 1 — Data cleaning with an audit trail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Trim/lower names, cast timestamp &amp;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type errors removed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Drop rows with no case_id / activity / 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0 rows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Remove exact duplicate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81 duplicates removed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Blank resource → UNKNOWN, department → Unassigned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events kept, not deleted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Negative wait/cost → 0, service_minutes ≤ 0 →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outliers tamed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Derive event_index, gap_minutes, is_rework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process mining ready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Drop cases &lt; 3 or &gt; 200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0 cases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5D7A"/>
                </a:solidFill>
                <a:latin typeface="Calibri"/>
              </a:rPr>
              <a:t>Every step is written to outputs/reports/cleaning_audit.json — grading-friendly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Architecture — one command runs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12E"/>
                </a:solidFill>
                <a:latin typeface="Calibri"/>
              </a:rPr>
              <a:t>data/raw/event_log.csv</a:t>
            </a:r>
          </a:p>
          <a:p>
            <a:pPr algn="l"/>
            <a:r>
              <a:rPr sz="1400" b="0">
                <a:solidFill>
                  <a:srgbClr val="12212E"/>
                </a:solidFill>
                <a:latin typeface="Calibri"/>
              </a:rPr>
              <a:t>   │  clean_data.py   → 8 cleaning rules + audit JSON</a:t>
            </a:r>
          </a:p>
          <a:p>
            <a:pPr algn="l"/>
            <a:r>
              <a:rPr sz="1400" b="0">
                <a:solidFill>
                  <a:srgbClr val="12212E"/>
                </a:solidFill>
                <a:latin typeface="Calibri"/>
              </a:rPr>
              <a:t>   ▼</a:t>
            </a:r>
          </a:p>
          <a:p>
            <a:pPr algn="l"/>
            <a:r>
              <a:rPr sz="1400" b="0">
                <a:solidFill>
                  <a:srgbClr val="12212E"/>
                </a:solidFill>
                <a:latin typeface="Calibri"/>
              </a:rPr>
              <a:t>data/processed/event_log_clean.csv   (26 features)</a:t>
            </a:r>
          </a:p>
          <a:p>
            <a:pPr algn="l"/>
            <a:r>
              <a:rPr sz="1400" b="0">
                <a:solidFill>
                  <a:srgbClr val="12212E"/>
                </a:solidFill>
                <a:latin typeface="Calibri"/>
              </a:rPr>
              <a:t>   ├─ discover_models.py   → DFG (28 edges), 14 variants</a:t>
            </a:r>
          </a:p>
          <a:p>
            <a:pPr algn="l"/>
            <a:r>
              <a:rPr sz="1400" b="0">
                <a:solidFill>
                  <a:srgbClr val="12212E"/>
                </a:solidFill>
                <a:latin typeface="Calibri"/>
              </a:rPr>
              <a:t>   ├─ analyze_insights.py  → KPIs, bottlenecks, 14 charts</a:t>
            </a:r>
          </a:p>
          <a:p>
            <a:pPr algn="l"/>
            <a:r>
              <a:rPr sz="1400" b="0">
                <a:solidFill>
                  <a:srgbClr val="12212E"/>
                </a:solidFill>
                <a:latin typeface="Calibri"/>
              </a:rPr>
              <a:t>   ├─ conformance.py       → token-based replay fitness</a:t>
            </a:r>
          </a:p>
          <a:p>
            <a:pPr algn="l"/>
            <a:r>
              <a:rPr sz="1400" b="0">
                <a:solidFill>
                  <a:srgbClr val="12212E"/>
                </a:solidFill>
                <a:latin typeface="Calibri"/>
              </a:rPr>
              <a:t>   ├─ ml_model.py          → long-stay classifier + eval</a:t>
            </a:r>
          </a:p>
          <a:p>
            <a:pPr algn="l"/>
            <a:r>
              <a:rPr sz="1400" b="0">
                <a:solidFill>
                  <a:srgbClr val="12212E"/>
                </a:solidFill>
                <a:latin typeface="Calibri"/>
              </a:rPr>
              <a:t>   ├─ connect_db.py        → MySQL / PostgreSQL / SQLite star schema</a:t>
            </a:r>
          </a:p>
          <a:p>
            <a:pPr algn="l"/>
            <a:r>
              <a:rPr sz="1400" b="0">
                <a:solidFill>
                  <a:srgbClr val="12212E"/>
                </a:solidFill>
                <a:latin typeface="Calibri"/>
              </a:rPr>
              <a:t>   └─ dashboard/app.py     → Streamlit dashboard</a:t>
            </a:r>
          </a:p>
          <a:p>
            <a:pPr algn="l"/>
            <a:r>
              <a:rPr sz="1400" b="0">
                <a:solidFill>
                  <a:srgbClr val="12212E"/>
                </a:solidFill>
                <a:latin typeface="Calibri"/>
              </a:rPr>
              <a:t>run_all.py  →  all six stages, ~25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Step 2 — What the pathway really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28 directly-follows edges, 14 distinct variants; the top variant covers 29.9 % of cases.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Registration → Triage is the busiest edge (1,100 cases): the front door is the volume gate.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Diagnosis Confirmed → Medication Prescribed (725) is the clinical core.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Emergency Assessment → Lab Test (579) is the biggest escalation 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Step 3 — Bottlenecks: the biggest single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571750" cy="1371600"/>
          </a:xfrm>
          <a:prstGeom prst="rect">
            <a:avLst/>
          </a:prstGeom>
          <a:solidFill>
            <a:srgbClr val="EEF7FA"/>
          </a:solidFill>
          <a:ln>
            <a:solidFill>
              <a:srgbClr val="CF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5D7A"/>
                </a:solidFill>
              </a:rPr>
              <a:t>226.6 min</a:t>
            </a:r>
          </a:p>
          <a:p>
            <a:pPr algn="ctr"/>
            <a:r>
              <a:rPr sz="1000">
                <a:solidFill>
                  <a:srgbClr val="5A6B78"/>
                </a:solidFill>
              </a:rPr>
              <a:t>Observation — worst wait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40430" y="1600200"/>
            <a:ext cx="2571750" cy="1371600"/>
          </a:xfrm>
          <a:prstGeom prst="rect">
            <a:avLst/>
          </a:prstGeom>
          <a:solidFill>
            <a:srgbClr val="EEF7FA"/>
          </a:solidFill>
          <a:ln>
            <a:solidFill>
              <a:srgbClr val="CF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5D7A"/>
                </a:solidFill>
              </a:rPr>
              <a:t>Friday 14:00</a:t>
            </a:r>
          </a:p>
          <a:p>
            <a:pPr algn="ctr"/>
            <a:r>
              <a:rPr sz="1000">
                <a:solidFill>
                  <a:srgbClr val="5A6B78"/>
                </a:solidFill>
              </a:rPr>
              <a:t>peak hospital 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0780" y="1600200"/>
            <a:ext cx="2571750" cy="1371600"/>
          </a:xfrm>
          <a:prstGeom prst="rect">
            <a:avLst/>
          </a:prstGeom>
          <a:solidFill>
            <a:srgbClr val="EEF7FA"/>
          </a:solidFill>
          <a:ln>
            <a:solidFill>
              <a:srgbClr val="CF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5D7A"/>
                </a:solidFill>
              </a:rPr>
              <a:t>28</a:t>
            </a:r>
          </a:p>
          <a:p>
            <a:pPr algn="ctr"/>
            <a:r>
              <a:rPr sz="1000">
                <a:solidFill>
                  <a:srgbClr val="5A6B78"/>
                </a:solidFill>
              </a:rPr>
              <a:t>DFG edges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041130" y="1600200"/>
            <a:ext cx="2571750" cy="1371600"/>
          </a:xfrm>
          <a:prstGeom prst="rect">
            <a:avLst/>
          </a:prstGeom>
          <a:solidFill>
            <a:srgbClr val="EEF7FA"/>
          </a:solidFill>
          <a:ln>
            <a:solidFill>
              <a:srgbClr val="CF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5D7A"/>
                </a:solidFill>
              </a:rPr>
              <a:t>14</a:t>
            </a:r>
          </a:p>
          <a:p>
            <a:pPr algn="ctr"/>
            <a:r>
              <a:rPr sz="1000">
                <a:solidFill>
                  <a:srgbClr val="5A6B78"/>
                </a:solidFill>
              </a:rPr>
              <a:t>pathway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Observation is the number-one delay in the pathway — one extra bay or a queue rule beats every other change per rupee.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High-volume activities (Front Desk 3,018 events, Outpatient 2,034) matter for throughput, not wait.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Rework events (a step repeated back-to-back) inflate both length of stay and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Step 4 — Where the money actually goes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Events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 cost (INR)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Operation Theatre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9,381,243  (36 %)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1,951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4,903,160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Laboratory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1,690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2,526,299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Outpatient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2,034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1,783,783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Radiology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1,675,840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Emergency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1,687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1,649,701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ICU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1,528,075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5D7A"/>
                </a:solidFill>
                <a:latin typeface="Calibri"/>
              </a:rPr>
              <a:t>Total INR 25,886,761 across 13,583 events · average INR 17,258 per patient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Step 5 — Conformance: how far reality drifts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571750" cy="1371600"/>
          </a:xfrm>
          <a:prstGeom prst="rect">
            <a:avLst/>
          </a:prstGeom>
          <a:solidFill>
            <a:srgbClr val="EEF7FA"/>
          </a:solidFill>
          <a:ln>
            <a:solidFill>
              <a:srgbClr val="CF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5D7A"/>
                </a:solidFill>
              </a:rPr>
              <a:t>1.0000</a:t>
            </a:r>
          </a:p>
          <a:p>
            <a:pPr algn="ctr"/>
            <a:r>
              <a:rPr sz="1000">
                <a:solidFill>
                  <a:srgbClr val="5A6B78"/>
                </a:solidFill>
              </a:rPr>
              <a:t>fitness (synthetic log)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40430" y="1600200"/>
            <a:ext cx="2571750" cy="1371600"/>
          </a:xfrm>
          <a:prstGeom prst="rect">
            <a:avLst/>
          </a:prstGeom>
          <a:solidFill>
            <a:srgbClr val="EEF7FA"/>
          </a:solidFill>
          <a:ln>
            <a:solidFill>
              <a:srgbClr val="CF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5D7A"/>
                </a:solidFill>
              </a:rPr>
              <a:t>100 %</a:t>
            </a:r>
          </a:p>
          <a:p>
            <a:pPr algn="ctr"/>
            <a:r>
              <a:rPr sz="1000">
                <a:solidFill>
                  <a:srgbClr val="5A6B78"/>
                </a:solidFill>
              </a:rPr>
              <a:t>cases on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0780" y="1600200"/>
            <a:ext cx="2571750" cy="1371600"/>
          </a:xfrm>
          <a:prstGeom prst="rect">
            <a:avLst/>
          </a:prstGeom>
          <a:solidFill>
            <a:srgbClr val="EEF7FA"/>
          </a:solidFill>
          <a:ln>
            <a:solidFill>
              <a:srgbClr val="CF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5D7A"/>
                </a:solidFill>
              </a:rPr>
              <a:t>14</a:t>
            </a:r>
          </a:p>
          <a:p>
            <a:pPr algn="ctr"/>
            <a:r>
              <a:rPr sz="1000">
                <a:solidFill>
                  <a:srgbClr val="5A6B78"/>
                </a:solidFill>
              </a:rPr>
              <a:t>variants observed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9041130" y="1600200"/>
            <a:ext cx="2571750" cy="1371600"/>
          </a:xfrm>
          <a:prstGeom prst="rect">
            <a:avLst/>
          </a:prstGeom>
          <a:solidFill>
            <a:srgbClr val="EEF7FA"/>
          </a:solidFill>
          <a:ln>
            <a:solidFill>
              <a:srgbClr val="CF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5D7A"/>
                </a:solidFill>
              </a:rPr>
              <a:t>0.7–0.95</a:t>
            </a:r>
          </a:p>
          <a:p>
            <a:pPr algn="ctr"/>
            <a:r>
              <a:rPr sz="1000">
                <a:solidFill>
                  <a:srgbClr val="5A6B78"/>
                </a:solidFill>
              </a:rPr>
              <a:t>expected on real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Token-based replay scores every case: how many tokens were missing / left behind.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Fitness 1.0000 is expected here — the synthetic generator follows fixed pathway templates.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On a real hospital log the honest expectation is 0.7–0.95, with deviations clustering on rework loops and escalations.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Step 6 — Predicting a long stay (&gt; 24 h)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 set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full (leaky)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full (leaky)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leakage-free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leakage-free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0.996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leakage-free (shipped)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0.998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2212E"/>
                </a:solidFill>
                <a:latin typeface="Calibri"/>
              </a:rPr>
              <a:t>Why two feature sets? The 'full' set contains post-outcome aggregates and scores a perfect 1.000 — a textbook data-leakage artefact. The leakage-free model is what ships.</a:t>
            </a:r>
          </a:p>
          <a:p>
            <a:pPr algn="l"/>
            <a:r>
              <a:rPr sz="1200" b="0">
                <a:solidFill>
                  <a:srgbClr val="12212E"/>
                </a:solidFill>
                <a:latin typeface="Calibri"/>
              </a:rPr>
              <a:t>Honest caveat: long stays are only 1.13 % of cases (17 of 1,500), so recall is unstable — ranking is good, clinical reliability is not yet proven.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Recommendations for the hospital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Fix Observation first — 226.6 min average wait is the largest recoverable delay.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Move elective activity away from Friday 14:00 (peak load).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Audit Operation Theatre utilisation — 36 % of cost sits in one department.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Standardise the most repeated step to remove rework at source.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Fast-track Emergency Assessment → Lab Test with a pre-approved lab panel.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2212E"/>
                </a:solidFill>
              </a:rPr>
              <a:t>•  Use the risk score at triage to prioritise likely long stays for case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Deliverables &amp; how to reproduce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728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>
                    <a:solidFill>
                      <a:srgbClr val="0B5D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Source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src/, dashboard/, sql/, notebooks/, run_all.py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docs/ (setup guide + documentation.html)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Project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reports/CareFlow_Project_Report.pdf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presentation/CareFlow_Presentation.pptx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Model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outputs/reports/model_metrics.json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Demonstration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12E"/>
                          </a:solidFill>
                          <a:latin typeface="Calibri"/>
                        </a:rPr>
                        <a:t>streamlit run dashboard/app.py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5D7A"/>
                </a:solidFill>
                <a:latin typeface="Calibri"/>
              </a:rPr>
              <a:t>pip install -r requirements.txt  →  python run_all.py  →  streamlit run dashboard/app.py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A2B8"/>
                </a:solidFill>
                <a:latin typeface="Calibri"/>
              </a:rPr>
              <a:t>CAREFLOW · CLINICAL PATHWAY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5D7A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2212E"/>
                </a:solidFill>
              </a:rPr>
              <a:t>•  Reference log is synthetic — real-log fitness will be lower (0.7–0.95).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2212E"/>
                </a:solidFill>
              </a:rPr>
              <a:t>•  Cost is activity-level, not invoice-level; no payer dimension.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2212E"/>
                </a:solidFill>
              </a:rPr>
              <a:t>•  Long-stay class is highly imbalanced (1.13 %) → use cost-sensitive learning or SMOTE.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2212E"/>
                </a:solidFill>
              </a:rPr>
              <a:t>•  Next: connect a real HIS / Sepsis log, add pm4py Inductive Miner + Petri net, deploy the dashboard, monitor process drift.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5D7A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12E"/>
                </a:solidFill>
                <a:latin typeface="Calibri"/>
              </a:rPr>
              <a:t>Questions welcome — CareFlow: Clinical Pathway Process Mining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8"/>
                </a:solidFill>
                <a:latin typeface="Calibri"/>
              </a:rPr>
              <a:t>Yash Rahangdale · Data Associate L1 Intern · Infotact Solutions · ITS/DA/1393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libri"/>
              </a:rPr>
              <a:t>Infotact Solutions confidential · Yash Rahangdale · ITS/DA/1393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